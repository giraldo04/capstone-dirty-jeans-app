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Chocolates" charset="1" panose="02000503020000020003"/>
      <p:regular r:id="rId17"/>
    </p:embeddedFont>
    <p:embeddedFont>
      <p:font typeface="TT Chocolates Ultra-Bold" charset="1" panose="02000903040000020003"/>
      <p:regular r:id="rId18"/>
    </p:embeddedFont>
    <p:embeddedFont>
      <p:font typeface="TT Chocolates Bold" charset="1" panose="020008030200000200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21758">
            <a:off x="1478382" y="872445"/>
            <a:ext cx="24584984" cy="8929074"/>
          </a:xfrm>
          <a:custGeom>
            <a:avLst/>
            <a:gdLst/>
            <a:ahLst/>
            <a:cxnLst/>
            <a:rect r="r" b="b" t="t" l="l"/>
            <a:pathLst>
              <a:path h="8929074" w="24584984">
                <a:moveTo>
                  <a:pt x="24584984" y="0"/>
                </a:moveTo>
                <a:lnTo>
                  <a:pt x="0" y="0"/>
                </a:lnTo>
                <a:lnTo>
                  <a:pt x="0" y="8929074"/>
                </a:lnTo>
                <a:lnTo>
                  <a:pt x="24584984" y="8929074"/>
                </a:lnTo>
                <a:lnTo>
                  <a:pt x="245849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30765" y="-653810"/>
            <a:ext cx="6877457" cy="11594620"/>
            <a:chOff x="0" y="0"/>
            <a:chExt cx="1811347" cy="3053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1347" cy="3053727"/>
            </a:xfrm>
            <a:custGeom>
              <a:avLst/>
              <a:gdLst/>
              <a:ahLst/>
              <a:cxnLst/>
              <a:rect r="r" b="b" t="t" l="l"/>
              <a:pathLst>
                <a:path h="3053727" w="1811347">
                  <a:moveTo>
                    <a:pt x="0" y="0"/>
                  </a:moveTo>
                  <a:lnTo>
                    <a:pt x="1811347" y="0"/>
                  </a:lnTo>
                  <a:lnTo>
                    <a:pt x="1811347" y="3053727"/>
                  </a:lnTo>
                  <a:lnTo>
                    <a:pt x="0" y="3053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811347" cy="303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1088998">
            <a:off x="10834457" y="1659523"/>
            <a:ext cx="3717099" cy="7354919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42624" t="0" r="-142624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1088998">
            <a:off x="14215852" y="1424674"/>
            <a:ext cx="3717099" cy="7354919"/>
            <a:chOff x="0" y="0"/>
            <a:chExt cx="2620010" cy="518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94468" t="0" r="-94468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740026" y="780805"/>
            <a:ext cx="495790" cy="495790"/>
            <a:chOff x="0" y="0"/>
            <a:chExt cx="1708150" cy="17081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8150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815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85725" y="869061"/>
            <a:ext cx="3770189" cy="33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2400">
                <a:solidFill>
                  <a:srgbClr val="2E2E2E"/>
                </a:solidFill>
                <a:latin typeface="TT Chocolates"/>
                <a:ea typeface="TT Chocolates"/>
                <a:cs typeface="TT Chocolates"/>
                <a:sym typeface="TT Chocolates"/>
              </a:rPr>
              <a:t>CARLOS GIRALDO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0026" y="3775075"/>
            <a:ext cx="9924956" cy="27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b="true" sz="5000">
                <a:solidFill>
                  <a:srgbClr val="000000"/>
                </a:solidFill>
                <a:latin typeface="TT Chocolates Ultra-Bold"/>
                <a:ea typeface="TT Chocolates Ultra-Bold"/>
                <a:cs typeface="TT Chocolates Ultra-Bold"/>
                <a:sym typeface="TT Chocolates Ultra-Bold"/>
              </a:rPr>
              <a:t>SISTEMA MÓVIL PARA LA AUTOMATIZACIÓN DEL CÁLCULO DE SUELDOS EN LA INDUSTRIA TEXTIL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026" y="6969038"/>
            <a:ext cx="7117287" cy="66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2400" b="true">
                <a:solidFill>
                  <a:srgbClr val="2E2E2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CARRERA:</a:t>
            </a:r>
            <a:r>
              <a:rPr lang="en-US" sz="2400">
                <a:solidFill>
                  <a:srgbClr val="2E2E2E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INGENIERÍA INFORMÁTICA</a:t>
            </a:r>
          </a:p>
          <a:p>
            <a:pPr algn="l">
              <a:lnSpc>
                <a:spcPts val="2616"/>
              </a:lnSpc>
            </a:pPr>
            <a:r>
              <a:rPr lang="en-US" sz="2400" b="true">
                <a:solidFill>
                  <a:srgbClr val="2E2E2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AÑO:</a:t>
            </a:r>
            <a:r>
              <a:rPr lang="en-US" sz="2400">
                <a:solidFill>
                  <a:srgbClr val="2E2E2E"/>
                </a:solidFill>
                <a:latin typeface="TT Chocolates"/>
                <a:ea typeface="TT Chocolates"/>
                <a:cs typeface="TT Chocolates"/>
                <a:sym typeface="TT Chocolates"/>
              </a:rPr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4376">
            <a:off x="-2444128" y="4375275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94767"/>
            <a:ext cx="4210325" cy="4210308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54577" r="0" b="-2320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959458" y="6446621"/>
            <a:ext cx="3040849" cy="1596591"/>
            <a:chOff x="0" y="0"/>
            <a:chExt cx="4054465" cy="212878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9050"/>
              <a:ext cx="4054465" cy="137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32"/>
                </a:lnSpc>
              </a:pPr>
              <a:r>
                <a:rPr lang="en-US" sz="360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CARLOS </a:t>
              </a:r>
            </a:p>
            <a:p>
              <a:pPr algn="l">
                <a:lnSpc>
                  <a:spcPts val="4032"/>
                </a:lnSpc>
              </a:pPr>
              <a:r>
                <a:rPr lang="en-US" sz="360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GIRALDO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73188"/>
              <a:ext cx="4054465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81609" y="5143500"/>
            <a:ext cx="3291108" cy="2101416"/>
            <a:chOff x="0" y="0"/>
            <a:chExt cx="4388144" cy="280188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050"/>
              <a:ext cx="4388144" cy="2049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32"/>
                </a:lnSpc>
              </a:pPr>
              <a:r>
                <a:rPr lang="en-US" sz="360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DISEÑADOR DE BASE DE DATOS</a:t>
              </a:r>
            </a:p>
            <a:p>
              <a:pPr algn="l">
                <a:lnSpc>
                  <a:spcPts val="4032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446288"/>
              <a:ext cx="4388144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1609" y="2273905"/>
            <a:ext cx="4381279" cy="1596591"/>
            <a:chOff x="0" y="0"/>
            <a:chExt cx="5841706" cy="212878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9050"/>
              <a:ext cx="5841706" cy="137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32"/>
                </a:lnSpc>
              </a:pPr>
              <a:r>
                <a:rPr lang="en-US" sz="360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DESARROLLADOR FULL STACK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773188"/>
              <a:ext cx="5841706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38381" y="3297251"/>
            <a:ext cx="3885330" cy="1091766"/>
            <a:chOff x="0" y="0"/>
            <a:chExt cx="5180439" cy="145568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9050"/>
              <a:ext cx="5180439" cy="702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32"/>
                </a:lnSpc>
              </a:pPr>
              <a:r>
                <a:rPr lang="en-US" sz="360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DOCUMENTADOR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100088"/>
              <a:ext cx="5180439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666750"/>
            <a:ext cx="6544472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5"/>
              </a:lnSpc>
            </a:pPr>
            <a:r>
              <a:rPr lang="en-US" sz="4500" spc="38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EQUIPO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525007" y="4825421"/>
            <a:ext cx="3885330" cy="1091766"/>
            <a:chOff x="0" y="0"/>
            <a:chExt cx="5180439" cy="145568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9050"/>
              <a:ext cx="5180439" cy="702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32"/>
                </a:lnSpc>
              </a:pPr>
              <a:r>
                <a:rPr lang="en-US" sz="360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TESTER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100088"/>
              <a:ext cx="5180439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7418">
            <a:off x="-5738158" y="-2784167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7"/>
                </a:lnTo>
                <a:lnTo>
                  <a:pt x="22539048" y="8186007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-653810"/>
            <a:ext cx="9583607" cy="11594620"/>
            <a:chOff x="0" y="0"/>
            <a:chExt cx="2524078" cy="3053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24078" cy="3053727"/>
            </a:xfrm>
            <a:custGeom>
              <a:avLst/>
              <a:gdLst/>
              <a:ahLst/>
              <a:cxnLst/>
              <a:rect r="r" b="b" t="t" l="l"/>
              <a:pathLst>
                <a:path h="3053727" w="2524078">
                  <a:moveTo>
                    <a:pt x="0" y="0"/>
                  </a:moveTo>
                  <a:lnTo>
                    <a:pt x="2524078" y="0"/>
                  </a:lnTo>
                  <a:lnTo>
                    <a:pt x="2524078" y="3053727"/>
                  </a:lnTo>
                  <a:lnTo>
                    <a:pt x="0" y="3053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524078" cy="303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0" y="1675375"/>
            <a:ext cx="8968996" cy="708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239"/>
              </a:lnSpc>
              <a:buFont typeface="Arial"/>
              <a:buChar char="•"/>
            </a:pPr>
            <a:r>
              <a:rPr lang="en-US" sz="3999" spc="34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CÁLCULO DE SUELDOS MANUAL Y PROPENSO A ERRORES.</a:t>
            </a:r>
          </a:p>
          <a:p>
            <a:pPr algn="l" marL="863599" indent="-431800" lvl="1">
              <a:lnSpc>
                <a:spcPts val="6239"/>
              </a:lnSpc>
              <a:buFont typeface="Arial"/>
              <a:buChar char="•"/>
            </a:pPr>
            <a:r>
              <a:rPr lang="en-US" sz="3999" spc="34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PROCESOS ADMINISTRATIVOS LENTOS Y REPETITIVOS.</a:t>
            </a:r>
          </a:p>
          <a:p>
            <a:pPr algn="l" marL="863599" indent="-431800" lvl="1">
              <a:lnSpc>
                <a:spcPts val="6239"/>
              </a:lnSpc>
              <a:buFont typeface="Arial"/>
              <a:buChar char="•"/>
            </a:pPr>
            <a:r>
              <a:rPr lang="en-US" sz="3999" spc="34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DIFICULTAD PARA MANTENER LA TRAZABILIDAD DE DATOS.</a:t>
            </a:r>
          </a:p>
          <a:p>
            <a:pPr algn="l" marL="863599" indent="-431800" lvl="1">
              <a:lnSpc>
                <a:spcPts val="6239"/>
              </a:lnSpc>
              <a:buFont typeface="Arial"/>
              <a:buChar char="•"/>
            </a:pPr>
            <a:r>
              <a:rPr lang="en-US" sz="3999" spc="34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FALTA DE TRANSPARENCIA EN LA GESTIÓN DE NÓMINA.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4836" y="4553174"/>
            <a:ext cx="6965524" cy="159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0"/>
              </a:lnSpc>
            </a:pPr>
            <a:r>
              <a:rPr lang="en-US" sz="11275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PROBLEMA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917418">
            <a:off x="-4010732" y="394800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5574" y="3557685"/>
            <a:ext cx="4974134" cy="4918252"/>
            <a:chOff x="0" y="0"/>
            <a:chExt cx="1814578" cy="17941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4578" cy="1794192"/>
            </a:xfrm>
            <a:custGeom>
              <a:avLst/>
              <a:gdLst/>
              <a:ahLst/>
              <a:cxnLst/>
              <a:rect r="r" b="b" t="t" l="l"/>
              <a:pathLst>
                <a:path h="1794192" w="1814578">
                  <a:moveTo>
                    <a:pt x="1690118" y="1794192"/>
                  </a:moveTo>
                  <a:lnTo>
                    <a:pt x="124460" y="1794192"/>
                  </a:lnTo>
                  <a:cubicBezTo>
                    <a:pt x="55880" y="1794192"/>
                    <a:pt x="0" y="1738312"/>
                    <a:pt x="0" y="166973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90118" y="0"/>
                  </a:lnTo>
                  <a:cubicBezTo>
                    <a:pt x="1758698" y="0"/>
                    <a:pt x="1814578" y="55880"/>
                    <a:pt x="1814578" y="124460"/>
                  </a:cubicBezTo>
                  <a:lnTo>
                    <a:pt x="1814578" y="1669732"/>
                  </a:lnTo>
                  <a:cubicBezTo>
                    <a:pt x="1814578" y="1738312"/>
                    <a:pt x="1758698" y="1794192"/>
                    <a:pt x="1690118" y="17941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56933" y="3557685"/>
            <a:ext cx="4974134" cy="4918252"/>
            <a:chOff x="0" y="0"/>
            <a:chExt cx="1814578" cy="1794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4578" cy="1794192"/>
            </a:xfrm>
            <a:custGeom>
              <a:avLst/>
              <a:gdLst/>
              <a:ahLst/>
              <a:cxnLst/>
              <a:rect r="r" b="b" t="t" l="l"/>
              <a:pathLst>
                <a:path h="1794192" w="1814578">
                  <a:moveTo>
                    <a:pt x="1690118" y="1794192"/>
                  </a:moveTo>
                  <a:lnTo>
                    <a:pt x="124460" y="1794192"/>
                  </a:lnTo>
                  <a:cubicBezTo>
                    <a:pt x="55880" y="1794192"/>
                    <a:pt x="0" y="1738312"/>
                    <a:pt x="0" y="166973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90118" y="0"/>
                  </a:lnTo>
                  <a:cubicBezTo>
                    <a:pt x="1758698" y="0"/>
                    <a:pt x="1814578" y="55880"/>
                    <a:pt x="1814578" y="124460"/>
                  </a:cubicBezTo>
                  <a:lnTo>
                    <a:pt x="1814578" y="1669732"/>
                  </a:lnTo>
                  <a:cubicBezTo>
                    <a:pt x="1814578" y="1738312"/>
                    <a:pt x="1758698" y="1794192"/>
                    <a:pt x="1690118" y="17941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285166" y="3557685"/>
            <a:ext cx="4974134" cy="4918252"/>
            <a:chOff x="0" y="0"/>
            <a:chExt cx="1814578" cy="17941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4578" cy="1794192"/>
            </a:xfrm>
            <a:custGeom>
              <a:avLst/>
              <a:gdLst/>
              <a:ahLst/>
              <a:cxnLst/>
              <a:rect r="r" b="b" t="t" l="l"/>
              <a:pathLst>
                <a:path h="1794192" w="1814578">
                  <a:moveTo>
                    <a:pt x="1690118" y="1794192"/>
                  </a:moveTo>
                  <a:lnTo>
                    <a:pt x="124460" y="1794192"/>
                  </a:lnTo>
                  <a:cubicBezTo>
                    <a:pt x="55880" y="1794192"/>
                    <a:pt x="0" y="1738312"/>
                    <a:pt x="0" y="166973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90118" y="0"/>
                  </a:lnTo>
                  <a:cubicBezTo>
                    <a:pt x="1758698" y="0"/>
                    <a:pt x="1814578" y="55880"/>
                    <a:pt x="1814578" y="124460"/>
                  </a:cubicBezTo>
                  <a:lnTo>
                    <a:pt x="1814578" y="1669732"/>
                  </a:lnTo>
                  <a:cubicBezTo>
                    <a:pt x="1814578" y="1738312"/>
                    <a:pt x="1758698" y="1794192"/>
                    <a:pt x="1690118" y="17941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3834504"/>
            <a:ext cx="4971008" cy="5262127"/>
            <a:chOff x="0" y="0"/>
            <a:chExt cx="6628011" cy="701617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6508345" cy="6352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81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Empresa: Dirty Jeans, fábrica textil en Recoleta, Santiago.</a:t>
              </a:r>
            </a:p>
            <a:p>
              <a:pPr algn="l" marL="647700" indent="-323850" lvl="1">
                <a:lnSpc>
                  <a:spcPts val="381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Más de 30 trabajadores en producción de jeans.</a:t>
              </a:r>
            </a:p>
            <a:p>
              <a:pPr algn="l" marL="647700" indent="-323850" lvl="1">
                <a:lnSpc>
                  <a:spcPts val="381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Procesos manuales → errores, demoras y sobrecarga administrativa.</a:t>
              </a:r>
            </a:p>
            <a:p>
              <a:pPr algn="l">
                <a:lnSpc>
                  <a:spcPts val="381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646981"/>
              <a:ext cx="6628011" cy="369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02380" y="4835067"/>
            <a:ext cx="3942964" cy="3376304"/>
            <a:chOff x="0" y="0"/>
            <a:chExt cx="5257285" cy="450173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5162367" cy="3394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79"/>
                </a:lnSpc>
              </a:pPr>
              <a:r>
                <a:rPr lang="en-US" sz="3999" b="true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Más de 30 trabajadores en producción de jeans.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660152"/>
              <a:ext cx="5257285" cy="841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0236" y="4835067"/>
            <a:ext cx="3942964" cy="2367416"/>
            <a:chOff x="0" y="0"/>
            <a:chExt cx="5257285" cy="315655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9050"/>
              <a:ext cx="4985736" cy="2473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2"/>
                </a:lnSpc>
              </a:pPr>
              <a:r>
                <a:rPr lang="en-US" sz="2899" b="true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Procesos manuales → errores, demoras y sobrecarga administrativa.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787366"/>
              <a:ext cx="5257285" cy="369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35017" y="2935733"/>
            <a:ext cx="2311991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0"/>
              </a:lnSpc>
            </a:pPr>
            <a:r>
              <a:rPr lang="en-US" sz="9000" spc="77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77627" y="3037620"/>
            <a:ext cx="2311991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0"/>
              </a:lnSpc>
            </a:pPr>
            <a:r>
              <a:rPr lang="en-US" sz="9000" spc="77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20236" y="3138973"/>
            <a:ext cx="2311991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0"/>
              </a:lnSpc>
            </a:pPr>
            <a:r>
              <a:rPr lang="en-US" sz="9000" spc="77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66750"/>
            <a:ext cx="16230600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spc="38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CONTEXTO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133280">
            <a:off x="1563165" y="1274742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429565"/>
            <a:ext cx="9194213" cy="11594620"/>
            <a:chOff x="0" y="0"/>
            <a:chExt cx="2421521" cy="3053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1521" cy="3053727"/>
            </a:xfrm>
            <a:custGeom>
              <a:avLst/>
              <a:gdLst/>
              <a:ahLst/>
              <a:cxnLst/>
              <a:rect r="r" b="b" t="t" l="l"/>
              <a:pathLst>
                <a:path h="3053727" w="2421521">
                  <a:moveTo>
                    <a:pt x="0" y="0"/>
                  </a:moveTo>
                  <a:lnTo>
                    <a:pt x="2421521" y="0"/>
                  </a:lnTo>
                  <a:lnTo>
                    <a:pt x="2421521" y="3053727"/>
                  </a:lnTo>
                  <a:lnTo>
                    <a:pt x="0" y="3053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421521" cy="303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510965" y="1435137"/>
            <a:ext cx="3748335" cy="7416725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527" t="0" r="-11252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473606" y="1841575"/>
            <a:ext cx="3748335" cy="7416725"/>
            <a:chOff x="0" y="0"/>
            <a:chExt cx="2620010" cy="518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12476" t="0" r="-112476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91549" y="666750"/>
            <a:ext cx="7810809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5"/>
              </a:lnSpc>
            </a:pPr>
            <a:r>
              <a:rPr lang="en-US" sz="4500" spc="38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PROPUESTA DE SOLUCIÓN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2582" y="3542099"/>
            <a:ext cx="584301" cy="101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2582" y="5298064"/>
            <a:ext cx="584301" cy="101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582" y="7235766"/>
            <a:ext cx="584301" cy="101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1549" y="1885130"/>
            <a:ext cx="7659756" cy="106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b="true" sz="2400" spc="15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UNA APLICACIÓN MÓVIL MULTIPLATAFORMA CONECTADA A UN BACKEND Y BASE DE DATOS EN LA NUBE QUE: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39464" y="3827662"/>
            <a:ext cx="471498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Automatiza el cálculo de sueldos según producción.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39616" y="5583627"/>
            <a:ext cx="471498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Genera reportes automáticos y confiables.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39616" y="7473516"/>
            <a:ext cx="471498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Permite a trabajadores y administradores acceder a su información en tiempo real.</a:t>
            </a:r>
          </a:p>
          <a:p>
            <a:pPr algn="l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06411" y="-653810"/>
            <a:ext cx="11021196" cy="11594620"/>
            <a:chOff x="0" y="0"/>
            <a:chExt cx="2902702" cy="3053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702" cy="3053727"/>
            </a:xfrm>
            <a:custGeom>
              <a:avLst/>
              <a:gdLst/>
              <a:ahLst/>
              <a:cxnLst/>
              <a:rect r="r" b="b" t="t" l="l"/>
              <a:pathLst>
                <a:path h="3053727" w="2902702">
                  <a:moveTo>
                    <a:pt x="0" y="0"/>
                  </a:moveTo>
                  <a:lnTo>
                    <a:pt x="2902702" y="0"/>
                  </a:lnTo>
                  <a:lnTo>
                    <a:pt x="2902702" y="3053727"/>
                  </a:lnTo>
                  <a:lnTo>
                    <a:pt x="0" y="3053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902702" cy="303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511099">
            <a:off x="-11591707" y="-2274643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49133" y="603114"/>
            <a:ext cx="4589327" cy="9080773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527" t="0" r="-11252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459511" y="1041882"/>
            <a:ext cx="6304129" cy="77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OBJETIVOS GENERALES Y ESPECÍFICOS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9511" y="2592904"/>
            <a:ext cx="9486058" cy="596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Objetivo General: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Automatizar el proceso de cálculo de sueldos en la empresa Dirty Jeans mediante una aplicación móvil conectada a la nube.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Objetivos Específicos: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Diseñar y modelar la base de datos (PostgreSQL).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Implementar backend (Node.js + Express).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Desarrollar interfaz móvil (React Native).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Generar reportes automáticos.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Desplegar el sistema en Railway.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06411" y="-653810"/>
            <a:ext cx="11021196" cy="11594620"/>
            <a:chOff x="0" y="0"/>
            <a:chExt cx="2902702" cy="3053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702" cy="3053727"/>
            </a:xfrm>
            <a:custGeom>
              <a:avLst/>
              <a:gdLst/>
              <a:ahLst/>
              <a:cxnLst/>
              <a:rect r="r" b="b" t="t" l="l"/>
              <a:pathLst>
                <a:path h="3053727" w="2902702">
                  <a:moveTo>
                    <a:pt x="0" y="0"/>
                  </a:moveTo>
                  <a:lnTo>
                    <a:pt x="2902702" y="0"/>
                  </a:lnTo>
                  <a:lnTo>
                    <a:pt x="2902702" y="3053727"/>
                  </a:lnTo>
                  <a:lnTo>
                    <a:pt x="0" y="3053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902702" cy="303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511099">
            <a:off x="-11591707" y="-2274643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49133" y="603114"/>
            <a:ext cx="4589327" cy="9080773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527" t="0" r="-11252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459511" y="2261318"/>
            <a:ext cx="6304129" cy="40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ALCANCES Y FUNCIONALIDADES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9511" y="3331109"/>
            <a:ext cx="9486058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Registro de trabajadores y producción.</a:t>
            </a:r>
          </a:p>
          <a:p>
            <a:pPr algn="l" marL="734058" indent="-367029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Cálculo automático de devengados y descuentos.</a:t>
            </a:r>
          </a:p>
          <a:p>
            <a:pPr algn="l" marL="734058" indent="-367029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Reportes en PDF de nómina.</a:t>
            </a:r>
          </a:p>
          <a:p>
            <a:pPr algn="l" marL="734058" indent="-367029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Control de roles (admin / trabajador).</a:t>
            </a:r>
          </a:p>
          <a:p>
            <a:pPr algn="l" marL="734058" indent="-367029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Acc</a:t>
            </a:r>
            <a:r>
              <a:rPr lang="en-US" b="true" sz="33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eso desde web o app móvil.</a:t>
            </a:r>
          </a:p>
          <a:p>
            <a:pPr algn="l" marL="734058" indent="-367029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Bas</a:t>
            </a:r>
            <a:r>
              <a:rPr lang="en-US" b="true" sz="33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 de datos en la nube (Railway).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06411" y="-653810"/>
            <a:ext cx="11021196" cy="11594620"/>
            <a:chOff x="0" y="0"/>
            <a:chExt cx="2902702" cy="3053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702" cy="3053727"/>
            </a:xfrm>
            <a:custGeom>
              <a:avLst/>
              <a:gdLst/>
              <a:ahLst/>
              <a:cxnLst/>
              <a:rect r="r" b="b" t="t" l="l"/>
              <a:pathLst>
                <a:path h="3053727" w="2902702">
                  <a:moveTo>
                    <a:pt x="0" y="0"/>
                  </a:moveTo>
                  <a:lnTo>
                    <a:pt x="2902702" y="0"/>
                  </a:lnTo>
                  <a:lnTo>
                    <a:pt x="2902702" y="3053727"/>
                  </a:lnTo>
                  <a:lnTo>
                    <a:pt x="0" y="3053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902702" cy="303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511099">
            <a:off x="-11591707" y="-2274643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49133" y="603114"/>
            <a:ext cx="4589327" cy="9080773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527" t="0" r="-11252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365709" y="864298"/>
            <a:ext cx="6304129" cy="40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METODOLOGÍA DE TRABAJO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65709" y="1695450"/>
            <a:ext cx="9486058" cy="733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Metodología: Evolutiva de Prototipos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Características: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. </a:t>
            </a: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Entregas funcionales tempranas.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 Retroalimentación directa con la empresa.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 Mejoras iterativas por versión.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Fases: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. </a:t>
            </a: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Análisis de requerimientos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. Diseño del sistema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. </a:t>
            </a: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Desarrollo backend y frontend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. Integración y pruebas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. </a:t>
            </a: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Despliegue y documentación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06411" y="-653810"/>
            <a:ext cx="11021196" cy="11594620"/>
            <a:chOff x="0" y="0"/>
            <a:chExt cx="2902702" cy="3053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702" cy="3053727"/>
            </a:xfrm>
            <a:custGeom>
              <a:avLst/>
              <a:gdLst/>
              <a:ahLst/>
              <a:cxnLst/>
              <a:rect r="r" b="b" t="t" l="l"/>
              <a:pathLst>
                <a:path h="3053727" w="2902702">
                  <a:moveTo>
                    <a:pt x="0" y="0"/>
                  </a:moveTo>
                  <a:lnTo>
                    <a:pt x="2902702" y="0"/>
                  </a:lnTo>
                  <a:lnTo>
                    <a:pt x="2902702" y="3053727"/>
                  </a:lnTo>
                  <a:lnTo>
                    <a:pt x="0" y="3053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902702" cy="303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511099">
            <a:off x="-11591707" y="-2274643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49133" y="603114"/>
            <a:ext cx="4589327" cy="9080773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527" t="0" r="-11252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473980" y="2959227"/>
            <a:ext cx="6304129" cy="40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ARQUITECTURA DEL SISTEMA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73980" y="3840696"/>
            <a:ext cx="9486058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Frontend: React Native</a:t>
            </a:r>
          </a:p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Backend: Node.js + Express</a:t>
            </a:r>
          </a:p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Base de datos: PostgreSQL</a:t>
            </a:r>
          </a:p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Infraestructura:</a:t>
            </a:r>
            <a:r>
              <a:rPr lang="en-US" sz="38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Rai</a:t>
            </a:r>
            <a:r>
              <a:rPr lang="en-US" sz="38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lway (Cloud)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133280">
            <a:off x="1563165" y="1274742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429565"/>
            <a:ext cx="9194213" cy="11594620"/>
            <a:chOff x="0" y="0"/>
            <a:chExt cx="2421521" cy="3053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1521" cy="3053727"/>
            </a:xfrm>
            <a:custGeom>
              <a:avLst/>
              <a:gdLst/>
              <a:ahLst/>
              <a:cxnLst/>
              <a:rect r="r" b="b" t="t" l="l"/>
              <a:pathLst>
                <a:path h="3053727" w="2421521">
                  <a:moveTo>
                    <a:pt x="0" y="0"/>
                  </a:moveTo>
                  <a:lnTo>
                    <a:pt x="2421521" y="0"/>
                  </a:lnTo>
                  <a:lnTo>
                    <a:pt x="2421521" y="3053727"/>
                  </a:lnTo>
                  <a:lnTo>
                    <a:pt x="0" y="3053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421521" cy="303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6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510965" y="1435137"/>
            <a:ext cx="3748335" cy="7416725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527" t="0" r="-11252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473606" y="1841575"/>
            <a:ext cx="3748335" cy="7416725"/>
            <a:chOff x="0" y="0"/>
            <a:chExt cx="2620010" cy="518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12476" t="0" r="-112476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91549" y="666750"/>
            <a:ext cx="7810809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5"/>
              </a:lnSpc>
            </a:pPr>
            <a:r>
              <a:rPr lang="en-US" sz="4500" spc="38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IMPACTO DEL PROYECTO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1549" y="2585683"/>
            <a:ext cx="7659756" cy="557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</a:pPr>
            <a:r>
              <a:rPr lang="en-US" b="true" sz="2899" spc="18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REDUCCIÓN DE ERRORES HUMANOS</a:t>
            </a:r>
          </a:p>
          <a:p>
            <a:pPr algn="l">
              <a:lnSpc>
                <a:spcPts val="3392"/>
              </a:lnSpc>
            </a:pPr>
          </a:p>
          <a:p>
            <a:pPr algn="l">
              <a:lnSpc>
                <a:spcPts val="3392"/>
              </a:lnSpc>
            </a:pPr>
            <a:r>
              <a:rPr lang="en-US" b="true" sz="2899" spc="18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MAYOR TRANSPARENCIA EN LOS PAGOS</a:t>
            </a:r>
          </a:p>
          <a:p>
            <a:pPr algn="l">
              <a:lnSpc>
                <a:spcPts val="3392"/>
              </a:lnSpc>
            </a:pPr>
          </a:p>
          <a:p>
            <a:pPr algn="l">
              <a:lnSpc>
                <a:spcPts val="3392"/>
              </a:lnSpc>
            </a:pPr>
            <a:r>
              <a:rPr lang="en-US" b="true" sz="2899" spc="18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OPTIMIZACIÓN DEL TIEMPO ADMINISTRATIVO</a:t>
            </a:r>
          </a:p>
          <a:p>
            <a:pPr algn="l">
              <a:lnSpc>
                <a:spcPts val="3392"/>
              </a:lnSpc>
            </a:pPr>
          </a:p>
          <a:p>
            <a:pPr algn="l">
              <a:lnSpc>
                <a:spcPts val="3392"/>
              </a:lnSpc>
            </a:pPr>
            <a:r>
              <a:rPr lang="en-US" b="true" sz="2899" spc="18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DIGITALIZACIÓN DEL PROCESO DE NÓMINA</a:t>
            </a:r>
          </a:p>
          <a:p>
            <a:pPr algn="l">
              <a:lnSpc>
                <a:spcPts val="3392"/>
              </a:lnSpc>
            </a:pPr>
          </a:p>
          <a:p>
            <a:pPr algn="l">
              <a:lnSpc>
                <a:spcPts val="3392"/>
              </a:lnSpc>
            </a:pPr>
            <a:r>
              <a:rPr lang="en-US" b="true" sz="2899" spc="18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ESCALABILIDAD Y FÁCIL MANTENIMIENTO</a:t>
            </a:r>
          </a:p>
          <a:p>
            <a:pPr algn="l">
              <a:lnSpc>
                <a:spcPts val="339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8374462">
            <a:off x="-7345701" y="4605309"/>
            <a:ext cx="22539048" cy="8186006"/>
          </a:xfrm>
          <a:custGeom>
            <a:avLst/>
            <a:gdLst/>
            <a:ahLst/>
            <a:cxnLst/>
            <a:rect r="r" b="b" t="t" l="l"/>
            <a:pathLst>
              <a:path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320125"/>
            <a:ext cx="16230600" cy="5199249"/>
            <a:chOff x="0" y="0"/>
            <a:chExt cx="5920967" cy="1896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20967" cy="1896700"/>
            </a:xfrm>
            <a:custGeom>
              <a:avLst/>
              <a:gdLst/>
              <a:ahLst/>
              <a:cxnLst/>
              <a:rect r="r" b="b" t="t" l="l"/>
              <a:pathLst>
                <a:path h="1896700" w="5920967">
                  <a:moveTo>
                    <a:pt x="5796507" y="1896700"/>
                  </a:moveTo>
                  <a:lnTo>
                    <a:pt x="124460" y="1896700"/>
                  </a:lnTo>
                  <a:cubicBezTo>
                    <a:pt x="55880" y="1896700"/>
                    <a:pt x="0" y="1840820"/>
                    <a:pt x="0" y="17722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796507" y="0"/>
                  </a:lnTo>
                  <a:cubicBezTo>
                    <a:pt x="5865087" y="0"/>
                    <a:pt x="5920967" y="55880"/>
                    <a:pt x="5920967" y="124460"/>
                  </a:cubicBezTo>
                  <a:lnTo>
                    <a:pt x="5920967" y="1772240"/>
                  </a:lnTo>
                  <a:cubicBezTo>
                    <a:pt x="5920967" y="1840820"/>
                    <a:pt x="5865087" y="1896700"/>
                    <a:pt x="5796507" y="1896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02780" y="4122700"/>
            <a:ext cx="15423612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DirtyJeans-App moderniza la gestión de nómina de la empresa Dirty Jeans, integrando tecnología, eficiencia y transparencia.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Un proyecto que demuestra la aplicación práctica de las competencias de Ingeniería Informática al servicio de la transformación digital empresarial.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64425" y="1548081"/>
            <a:ext cx="12300322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0"/>
              </a:lnSpc>
            </a:pPr>
            <a:r>
              <a:rPr lang="en-US" b="true" sz="60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DAG1UIQFFYk</dc:identifier>
  <dcterms:modified xsi:type="dcterms:W3CDTF">2011-08-01T06:04:30Z</dcterms:modified>
  <cp:revision>1</cp:revision>
  <dc:title>CARLOS GIRALDO</dc:title>
</cp:coreProperties>
</file>